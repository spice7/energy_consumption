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0D7256"/>
          </a:solidFill>
          <a:ln>
            <a:solidFill>
              <a:srgbClr val="0D7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960120"/>
            <a:ext cx="2651760" cy="73152"/>
          </a:xfrm>
          <a:prstGeom prst="rect">
            <a:avLst/>
          </a:prstGeom>
          <a:solidFill>
            <a:srgbClr val="B6D86F"/>
          </a:solidFill>
          <a:ln>
            <a:solidFill>
              <a:srgbClr val="70A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1783080"/>
            <a:ext cx="3291840" cy="73152"/>
          </a:xfrm>
          <a:prstGeom prst="rect">
            <a:avLst/>
          </a:prstGeom>
          <a:solidFill>
            <a:srgbClr val="70A491"/>
          </a:solidFill>
          <a:ln>
            <a:solidFill>
              <a:srgbClr val="70A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0" y="2606040"/>
            <a:ext cx="2011680" cy="73152"/>
          </a:xfrm>
          <a:prstGeom prst="rect">
            <a:avLst/>
          </a:prstGeom>
          <a:solidFill>
            <a:srgbClr val="70A491"/>
          </a:solidFill>
          <a:ln>
            <a:solidFill>
              <a:srgbClr val="70A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3429000"/>
            <a:ext cx="3657600" cy="73152"/>
          </a:xfrm>
          <a:prstGeom prst="rect">
            <a:avLst/>
          </a:prstGeom>
          <a:solidFill>
            <a:srgbClr val="B6D86F"/>
          </a:solidFill>
          <a:ln>
            <a:solidFill>
              <a:srgbClr val="70A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4251960"/>
            <a:ext cx="2743200" cy="73152"/>
          </a:xfrm>
          <a:prstGeom prst="rect">
            <a:avLst/>
          </a:prstGeom>
          <a:solidFill>
            <a:srgbClr val="70A491"/>
          </a:solidFill>
          <a:ln>
            <a:solidFill>
              <a:srgbClr val="70A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594360"/>
            <a:ext cx="45720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ML ANALYSIS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6583680" cy="1508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3600" b="1">
                <a:solidFill>
                  <a:srgbClr val="FFFEF9"/>
                </a:solidFill>
                <a:latin typeface="NanumSquare"/>
              </a:defRPr>
            </a:pPr>
            <a:r>
              <a:t>전기차 에너지 소비량</a:t>
            </a:r>
            <a:br/>
            <a:r>
              <a:t>예측 웹서비스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5943600" cy="7772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700" b="0">
                <a:solidFill>
                  <a:srgbClr val="C6D7D1"/>
                </a:solidFill>
                <a:latin typeface="NanumSquare"/>
              </a:defRPr>
            </a:pPr>
            <a:r>
              <a:t>운행 조건 기반 소비량 예측과</a:t>
            </a:r>
            <a:br/>
            <a:r>
              <a:t>현재·대안 계획 비교 시뮬레이션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6035040" cy="18288"/>
          </a:xfrm>
          <a:prstGeom prst="rect">
            <a:avLst/>
          </a:prstGeom>
          <a:solidFill>
            <a:srgbClr val="B6D86F"/>
          </a:solidFill>
          <a:ln>
            <a:solidFill>
              <a:srgbClr val="B6D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102352"/>
            <a:ext cx="5486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B6D86F"/>
                </a:solidFill>
                <a:latin typeface="NanumSquare"/>
              </a:defRPr>
            </a:pPr>
            <a:r>
              <a:t>기업 의사결정 관점 + 분석·구현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25312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9DB7AE"/>
                </a:solidFill>
                <a:latin typeface="NanumSquare"/>
              </a:defRPr>
            </a:pPr>
            <a:r>
              <a:t>2026. 08. 28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예측에서 비교까지, 운행 계획 검토의 근거를 만들었습니다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저장된 최종 모델을 웹서비스에 연결해 재학습 없이 즉시 추론합니다.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84831"/>
            <a:ext cx="2578608" cy="22860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57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24912"/>
            <a:ext cx="21031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800" b="1">
                <a:solidFill>
                  <a:srgbClr val="15201D"/>
                </a:solidFill>
                <a:latin typeface="NanumSquare"/>
              </a:defRPr>
            </a:pPr>
            <a: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39696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68756F"/>
                </a:solidFill>
                <a:latin typeface="NanumSquare"/>
              </a:defRPr>
            </a:pPr>
            <a:r>
              <a:t>운행 전 에너지 소비량을</a:t>
            </a:r>
            <a:br/>
            <a:r>
              <a:t>정량적으로 가늠하기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84831"/>
            <a:ext cx="2578608" cy="22860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8" y="2304288"/>
            <a:ext cx="457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724912"/>
            <a:ext cx="21031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800" b="1">
                <a:solidFill>
                  <a:srgbClr val="15201D"/>
                </a:solidFill>
                <a:latin typeface="NanumSquare"/>
              </a:defRPr>
            </a:pPr>
            <a:r>
              <a:t>해법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246120"/>
            <a:ext cx="2139696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68756F"/>
                </a:solidFill>
                <a:latin typeface="NanumSquare"/>
              </a:defRPr>
            </a:pPr>
            <a:r>
              <a:t>9개 운행 조건 기반</a:t>
            </a:r>
            <a:br/>
            <a:r>
              <a:t>XGBoost 회귀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084831"/>
            <a:ext cx="2578608" cy="22860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2304288"/>
            <a:ext cx="457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724912"/>
            <a:ext cx="21031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800" b="1">
                <a:solidFill>
                  <a:srgbClr val="15201D"/>
                </a:solidFill>
                <a:latin typeface="NanumSquare"/>
              </a:defRPr>
            </a:pPr>
            <a:r>
              <a:t>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246120"/>
            <a:ext cx="2139696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68756F"/>
                </a:solidFill>
                <a:latin typeface="NanumSquare"/>
              </a:defRPr>
            </a:pPr>
            <a:r>
              <a:t>현재·대안 조건 비교와</a:t>
            </a:r>
            <a:br/>
            <a:r>
              <a:t>예상 절감률 시뮬레이션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2084831"/>
            <a:ext cx="2578608" cy="22860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81744" y="2304288"/>
            <a:ext cx="457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724912"/>
            <a:ext cx="21031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800" b="1">
                <a:solidFill>
                  <a:srgbClr val="15201D"/>
                </a:solidFill>
                <a:latin typeface="NanumSquare"/>
              </a:defRPr>
            </a:pPr>
            <a:r>
              <a:t>성과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246120"/>
            <a:ext cx="2139696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68756F"/>
                </a:solidFill>
                <a:latin typeface="NanumSquare"/>
              </a:defRPr>
            </a:pPr>
            <a:r>
              <a:t>테스트 R² 0.948</a:t>
            </a:r>
            <a:br/>
            <a:r>
              <a:t>평균 오차 0.660 kWh/100km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736592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01768"/>
            <a:ext cx="1097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핵심 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956048"/>
            <a:ext cx="90982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5201D"/>
                </a:solidFill>
                <a:latin typeface="NanumSquare"/>
              </a:defRPr>
            </a:pPr>
            <a:r>
              <a:t>본 결과는 조건별 비교를 위한 모델 기반 예상치이며, 실제 운영 적용 전 실차 데이터 검증이 필요합니다.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01 ·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운행 계획 수립 시 소비량 불확실성을 줄여야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업무 이슈 → 예측 대상 → 분석 목표 → 활용 방안의 흐름으로 문제를 재정의했습니다.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2011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600" b="1">
                <a:solidFill>
                  <a:srgbClr val="15201D"/>
                </a:solidFill>
                <a:latin typeface="NanumSquare"/>
              </a:defRPr>
            </a:pPr>
            <a:r>
              <a:t>충전 계획 오차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36576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주행 조건 차이를 반영하지 못하면 필요한 에너지를 과소·과대 추정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752344"/>
            <a:ext cx="6126480" cy="0"/>
          </a:xfrm>
          <a:prstGeom prst="line">
            <a:avLst/>
          </a:prstGeom>
          <a:ln w="1524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136391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18103"/>
            <a:ext cx="2011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600" b="1">
                <a:solidFill>
                  <a:srgbClr val="15201D"/>
                </a:solidFill>
                <a:latin typeface="NanumSquare"/>
              </a:defRPr>
            </a:pPr>
            <a:r>
              <a:t>운영비 판단 지연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136391"/>
            <a:ext cx="36576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대안 조건의 소비량 차이를 사전에 비교할 정량 기준 부족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831335"/>
            <a:ext cx="6126480" cy="0"/>
          </a:xfrm>
          <a:prstGeom prst="line">
            <a:avLst/>
          </a:prstGeom>
          <a:ln w="1524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215383"/>
            <a:ext cx="411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97096"/>
            <a:ext cx="2011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600" b="1">
                <a:solidFill>
                  <a:srgbClr val="15201D"/>
                </a:solidFill>
                <a:latin typeface="NanumSquare"/>
              </a:defRPr>
            </a:pPr>
            <a:r>
              <a:t>설명 근거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15383"/>
            <a:ext cx="36576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예측 결과와 함께 어떤 조건이 모델에서 중요했는지 전달 필요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910327"/>
            <a:ext cx="6126480" cy="0"/>
          </a:xfrm>
          <a:prstGeom prst="line">
            <a:avLst/>
          </a:prstGeom>
          <a:ln w="1524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0920" y="2029968"/>
            <a:ext cx="4224528" cy="338328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2395728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B6D86F"/>
                </a:solidFill>
                <a:latin typeface="NanumSquare"/>
              </a:defRPr>
            </a:pPr>
            <a:r>
              <a:t>분석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907792"/>
            <a:ext cx="3520440" cy="1417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200" b="1">
                <a:solidFill>
                  <a:srgbClr val="FFFEF9"/>
                </a:solidFill>
                <a:latin typeface="NanumSquare"/>
              </a:defRPr>
            </a:pPr>
            <a:r>
              <a:t>주행·환경 조건으로</a:t>
            </a:r>
            <a:br/>
            <a:r>
              <a:t>에너지 소비량을 예측하고</a:t>
            </a:r>
            <a:br/>
            <a:r>
              <a:t>계획 간 비교의 객관성을 높인다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800600"/>
            <a:ext cx="3383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B7CBC4"/>
                </a:solidFill>
                <a:latin typeface="NanumSquare"/>
              </a:defRPr>
            </a:pPr>
            <a:r>
              <a:t>사용자  · 차량 관제 / 충전 운영 / 운영 기획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01 · PROJECT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분석 결과를 실제 사용 가능한 추론 흐름으로 연결했습니다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48840"/>
            <a:ext cx="1938528" cy="23317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774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70632"/>
            <a:ext cx="1554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10128"/>
            <a:ext cx="155448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0">
                <a:solidFill>
                  <a:srgbClr val="68756F"/>
                </a:solidFill>
                <a:latin typeface="NanumSquare"/>
              </a:defRPr>
            </a:pPr>
            <a:r>
              <a:t>8,000건</a:t>
            </a:r>
            <a:br/>
            <a:r>
              <a:t>10개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3108960"/>
            <a:ext cx="3200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148840"/>
            <a:ext cx="1938528" cy="23317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70632"/>
            <a:ext cx="1554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10128"/>
            <a:ext cx="155448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0">
                <a:solidFill>
                  <a:srgbClr val="68756F"/>
                </a:solidFill>
                <a:latin typeface="NanumSquare"/>
              </a:defRPr>
            </a:pPr>
            <a:r>
              <a:t>품질·분포</a:t>
            </a:r>
            <a:br/>
            <a:r>
              <a:t>상관관계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08960"/>
            <a:ext cx="3200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2148840"/>
            <a:ext cx="1938528" cy="23317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23774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770632"/>
            <a:ext cx="1554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310128"/>
            <a:ext cx="155448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0">
                <a:solidFill>
                  <a:srgbClr val="68756F"/>
                </a:solidFill>
                <a:latin typeface="NanumSquare"/>
              </a:defRPr>
            </a:pPr>
            <a:r>
              <a:t>7개 후보</a:t>
            </a:r>
            <a:br/>
            <a:r>
              <a:t>CV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3108960"/>
            <a:ext cx="3200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148840"/>
            <a:ext cx="1938528" cy="23317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23774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770632"/>
            <a:ext cx="1554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310128"/>
            <a:ext cx="155448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0">
                <a:solidFill>
                  <a:srgbClr val="68756F"/>
                </a:solidFill>
                <a:latin typeface="NanumSquare"/>
              </a:defRPr>
            </a:pPr>
            <a:r>
              <a:t>joblib</a:t>
            </a:r>
            <a:br/>
            <a: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3108960"/>
            <a:ext cx="3200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8944" y="2148840"/>
            <a:ext cx="1938528" cy="233172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21824" y="23774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2770632"/>
            <a:ext cx="1554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FFFEF9"/>
                </a:solidFill>
                <a:latin typeface="NanumSquare"/>
              </a:defRPr>
            </a:pPr>
            <a: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3310128"/>
            <a:ext cx="155448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0">
                <a:solidFill>
                  <a:srgbClr val="C7D8D2"/>
                </a:solidFill>
                <a:latin typeface="NanumSquare"/>
              </a:defRPr>
            </a:pPr>
            <a:r>
              <a:t>현재·대안</a:t>
            </a:r>
            <a:br/>
            <a:r>
              <a:t>조건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029200"/>
            <a:ext cx="1097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운영 원칙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956048"/>
            <a:ext cx="93268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5201D"/>
                </a:solidFill>
                <a:latin typeface="NanumSquare"/>
              </a:defRPr>
            </a:pPr>
            <a:r>
              <a:t>웹 요청마다 학습하지 않고, 검증된 최종 모델을 시작 시 한 번 로드해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02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8,000건의 주행·환경 조건으로 연속형 소비량을 예측합니다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02082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B7CBC4"/>
                </a:solidFill>
                <a:latin typeface="NanumSquare"/>
              </a:defRPr>
            </a:pPr>
            <a:r>
              <a:t>관측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205740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900" b="1">
                <a:solidFill>
                  <a:srgbClr val="FFFEF9"/>
                </a:solidFill>
                <a:latin typeface="NanumSquare Bold"/>
              </a:rPr>
              <a:t>8,000</a:t>
            </a:r>
            <a:r>
              <a:rPr sz="1400" b="1">
                <a:solidFill>
                  <a:srgbClr val="B6D86F"/>
                </a:solidFill>
                <a:latin typeface="NanumSquare Bold"/>
              </a:rPr>
              <a:t>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0116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2194560"/>
            <a:ext cx="202082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입력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05740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900" b="1">
                <a:solidFill>
                  <a:srgbClr val="15201D"/>
                </a:solidFill>
                <a:latin typeface="NanumSquare Bold"/>
              </a:rPr>
              <a:t>9</a:t>
            </a:r>
            <a:r>
              <a:rPr sz="1400" b="1">
                <a:solidFill>
                  <a:srgbClr val="68756F"/>
                </a:solidFill>
                <a:latin typeface="NanumSquare Bold"/>
              </a:rPr>
              <a:t>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011680"/>
            <a:ext cx="2423160" cy="150876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3328" y="2194560"/>
            <a:ext cx="202082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결측값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14600"/>
            <a:ext cx="205740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900" b="1">
                <a:solidFill>
                  <a:srgbClr val="15201D"/>
                </a:solidFill>
                <a:latin typeface="NanumSquare Bold"/>
              </a:rPr>
              <a:t>0</a:t>
            </a:r>
            <a:r>
              <a:rPr sz="1400" b="1">
                <a:solidFill>
                  <a:srgbClr val="68756F"/>
                </a:solidFill>
                <a:latin typeface="NanumSquare Bold"/>
              </a:rPr>
              <a:t>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011680"/>
            <a:ext cx="3063240" cy="150876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2194560"/>
            <a:ext cx="266090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예측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514600"/>
            <a:ext cx="269748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900" b="1">
                <a:solidFill>
                  <a:srgbClr val="15201D"/>
                </a:solidFill>
                <a:latin typeface="NanumSquare"/>
              </a:defRPr>
            </a:pPr>
            <a:r>
              <a:t>kWh/100km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288536"/>
            <a:ext cx="685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주행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690872"/>
            <a:ext cx="30175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평균 속도 · 운전 성향 · 주행 거리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06908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4288536"/>
            <a:ext cx="685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차량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690872"/>
            <a:ext cx="30175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적재량 · 배터리 온도 · 타이어 공기압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5" y="4069080"/>
            <a:ext cx="3438144" cy="123444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3023" y="4288536"/>
            <a:ext cx="685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4690872"/>
            <a:ext cx="30175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외기 온도 · 공조 전력 · 도로 경사도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715000"/>
            <a:ext cx="36576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문제 유형  ·  지도학습 기반 회귀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02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데이터 품질은 안정적이며, 소비량은 넓은 연속 구간에 분포합니다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결측 0건 · 중복 0건 · 입력 변수별 관측 범위 확인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84248"/>
            <a:ext cx="6629400" cy="3977639"/>
          </a:xfrm>
          <a:prstGeom prst="rect">
            <a:avLst/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73724"/>
            <a:ext cx="6629400" cy="35986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984248"/>
            <a:ext cx="4023360" cy="3977639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45552" y="2304288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779776"/>
            <a:ext cx="3246120" cy="9144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700" b="1">
                <a:solidFill>
                  <a:srgbClr val="15201D"/>
                </a:solidFill>
                <a:latin typeface="NanumSquare"/>
              </a:defRPr>
            </a:pPr>
            <a:r>
              <a:t>타깃 값이 특정 한 점에 몰리지 않아</a:t>
            </a:r>
            <a:br/>
            <a:r>
              <a:t>회귀 모델이 다양한 소비량 구간을</a:t>
            </a:r>
            <a:br/>
            <a:r>
              <a:t>학습할 수 있습니다.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36408" y="4005072"/>
            <a:ext cx="3300984" cy="0"/>
          </a:xfrm>
          <a:prstGeom prst="line">
            <a:avLst/>
          </a:prstGeom>
          <a:ln w="1524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45552" y="4297680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D6A234"/>
                </a:solidFill>
                <a:latin typeface="NanumSquare"/>
              </a:defRPr>
            </a:pPr>
            <a:r>
              <a:t>관측 범위 밖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681728"/>
            <a:ext cx="310896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68756F"/>
                </a:solidFill>
                <a:latin typeface="NanumSquare"/>
              </a:defRPr>
            </a:pPr>
            <a:r>
              <a:t>예측은 허용하되 외삽 불확실성</a:t>
            </a:r>
            <a:br/>
            <a:r>
              <a:t>경고를 화면에 명시합니다.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02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경사도·적재량·속도가 소비량과 높은 양의 상관을 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상관관계는 탐색적 관련성이며 인과관계를 의미하지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pic>
        <p:nvPicPr>
          <p:cNvPr id="8" name="Picture 7" descr="correlations.png"/>
          <p:cNvPicPr>
            <a:picLocks noChangeAspect="1"/>
          </p:cNvPicPr>
          <p:nvPr/>
        </p:nvPicPr>
        <p:blipFill>
          <a:blip r:embed="rId2"/>
          <a:srcRect t="562" b="562"/>
          <a:stretch>
            <a:fillRect/>
          </a:stretch>
        </p:blipFill>
        <p:spPr>
          <a:xfrm>
            <a:off x="621792" y="1965960"/>
            <a:ext cx="694944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965960"/>
            <a:ext cx="6949440" cy="4069080"/>
          </a:xfrm>
          <a:prstGeom prst="rect">
            <a:avLst/>
          </a:prstGeom>
          <a:noFill/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82127" y="201168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9872" y="2176272"/>
            <a:ext cx="1508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15201D"/>
                </a:solidFill>
                <a:latin typeface="NanumSquare"/>
              </a:defRPr>
            </a:pPr>
            <a:r>
              <a:t>도로 경사도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2148840"/>
            <a:ext cx="10058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+0.50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2532888"/>
            <a:ext cx="256032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800" b="0">
                <a:solidFill>
                  <a:srgbClr val="68756F"/>
                </a:solidFill>
                <a:latin typeface="NanumSquare"/>
              </a:defRPr>
            </a:pPr>
            <a:r>
              <a:t>상관계수 최상위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3127248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2" y="3291840"/>
            <a:ext cx="1508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15201D"/>
                </a:solidFill>
                <a:latin typeface="NanumSquare"/>
              </a:defRPr>
            </a:pPr>
            <a:r>
              <a:t>적재량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264408"/>
            <a:ext cx="10058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+0.47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648456"/>
            <a:ext cx="256032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800" b="0">
                <a:solidFill>
                  <a:srgbClr val="68756F"/>
                </a:solidFill>
                <a:latin typeface="NanumSquare"/>
              </a:defRPr>
            </a:pPr>
            <a:r>
              <a:t>차량 부하 관련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4242816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4407408"/>
            <a:ext cx="1508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15201D"/>
                </a:solidFill>
                <a:latin typeface="NanumSquare"/>
              </a:defRPr>
            </a:pPr>
            <a:r>
              <a:t>평균 속도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379976"/>
            <a:ext cx="10058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+0.45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4764024"/>
            <a:ext cx="256032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800" b="0">
                <a:solidFill>
                  <a:srgbClr val="68756F"/>
                </a:solidFill>
                <a:latin typeface="NanumSquare"/>
              </a:defRPr>
            </a:pPr>
            <a:r>
              <a:t>주행 조건 관련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7" y="5468112"/>
            <a:ext cx="3639312" cy="438912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5586984"/>
            <a:ext cx="3200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기온·공기압 등은 약한 음의 상관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03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비교 기준을 세우고 튜닝 XGBoost를 최종 후보로 선정했습니다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Train 80% / Test 20% · 학습 데이터 내 5-Fold 교차검증 · RMSE 기준 튜닝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65960"/>
            <a:ext cx="7406640" cy="4023360"/>
          </a:xfrm>
          <a:prstGeom prst="rect">
            <a:avLst/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311146"/>
            <a:ext cx="7406640" cy="33329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47888" y="1965960"/>
            <a:ext cx="3319272" cy="402336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286000"/>
            <a:ext cx="13716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B6D86F"/>
                </a:solidFill>
                <a:latin typeface="NanumSquare"/>
              </a:defRPr>
            </a:pPr>
            <a:r>
              <a:t>선정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2788920"/>
            <a:ext cx="228600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400" b="1">
                <a:solidFill>
                  <a:srgbClr val="FFFEF9"/>
                </a:solidFill>
                <a:latin typeface="NanumSquare"/>
              </a:defRPr>
            </a:pPr>
            <a:r>
              <a:t>XGBoost</a:t>
            </a:r>
            <a:br/>
            <a:r>
              <a:t>Tuned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03320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B8CCC5"/>
                </a:solidFill>
                <a:latin typeface="NanumSquare"/>
              </a:defRPr>
            </a:pPr>
            <a:r>
              <a:t>CV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69080"/>
            <a:ext cx="20116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800" b="1">
                <a:solidFill>
                  <a:srgbClr val="B6D86F"/>
                </a:solidFill>
                <a:latin typeface="NanumSquare"/>
              </a:defRPr>
            </a:pPr>
            <a:r>
              <a:t>0.887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892040"/>
            <a:ext cx="25146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C8D8D3"/>
                </a:solidFill>
                <a:latin typeface="NanumSquare"/>
              </a:defRPr>
            </a:pPr>
            <a:r>
              <a:t>비선형 관계·변수 간 상호작용을</a:t>
            </a:r>
            <a:br/>
            <a:r>
              <a:t>반영하며 후보 중 오차가 가장 낮음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03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최종 모델은 테스트 데이터 변동의 94.8%를 설명했습니다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pic>
        <p:nvPicPr>
          <p:cNvPr id="7" name="Picture 6" descr="actual_vs_predicted.png"/>
          <p:cNvPicPr>
            <a:picLocks noChangeAspect="1"/>
          </p:cNvPicPr>
          <p:nvPr/>
        </p:nvPicPr>
        <p:blipFill>
          <a:blip r:embed="rId2"/>
          <a:srcRect t="7353" b="7353"/>
          <a:stretch>
            <a:fillRect/>
          </a:stretch>
        </p:blipFill>
        <p:spPr>
          <a:xfrm>
            <a:off x="621792" y="1920240"/>
            <a:ext cx="612648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20240"/>
            <a:ext cx="6126480" cy="4160520"/>
          </a:xfrm>
          <a:prstGeom prst="rect">
            <a:avLst/>
          </a:prstGeom>
          <a:noFill/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68312" y="1993392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176272"/>
            <a:ext cx="162763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B7CBC4"/>
                </a:solidFill>
                <a:latin typeface="NanumSquare"/>
              </a:defRPr>
            </a:pPr>
            <a: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2496312"/>
            <a:ext cx="1664208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900" b="1">
                <a:solidFill>
                  <a:srgbClr val="FFFEF9"/>
                </a:solidFill>
                <a:latin typeface="NanumSquare"/>
              </a:defRPr>
            </a:pPr>
            <a:r>
              <a:t>0.948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044952"/>
            <a:ext cx="1627632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C9D8D3"/>
                </a:solidFill>
                <a:latin typeface="NanumSquare"/>
              </a:defRPr>
            </a:pPr>
            <a:r>
              <a:t>설명력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592" y="1993392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2176272"/>
            <a:ext cx="1746504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496312"/>
            <a:ext cx="178308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900" b="1">
                <a:solidFill>
                  <a:srgbClr val="15201D"/>
                </a:solidFill>
                <a:latin typeface="NanumSquare"/>
              </a:defRPr>
            </a:pPr>
            <a:r>
              <a:t>0.660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044952"/>
            <a:ext cx="1746504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68756F"/>
                </a:solidFill>
                <a:latin typeface="NanumSquare"/>
              </a:defRPr>
            </a:pPr>
            <a:r>
              <a:t>kWh/100km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3730752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3913632"/>
            <a:ext cx="1627632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4233672"/>
            <a:ext cx="1664208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900" b="1">
                <a:solidFill>
                  <a:srgbClr val="15201D"/>
                </a:solidFill>
                <a:latin typeface="NanumSquare"/>
              </a:defRPr>
            </a:pPr>
            <a:r>
              <a:t>0.834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782312"/>
            <a:ext cx="1627632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68756F"/>
                </a:solidFill>
                <a:latin typeface="NanumSquare"/>
              </a:defRPr>
            </a:pPr>
            <a:r>
              <a:t>kWh/100km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3730752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3959352"/>
            <a:ext cx="914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407408"/>
            <a:ext cx="1645920" cy="5120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300" b="1">
                <a:solidFill>
                  <a:srgbClr val="15201D"/>
                </a:solidFill>
                <a:latin typeface="NanumSquare"/>
              </a:defRPr>
            </a:pPr>
            <a:r>
              <a:t>평균 절대 오차가</a:t>
            </a:r>
            <a:br/>
            <a:r>
              <a:t>1 kWh/100km 미만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641848"/>
            <a:ext cx="1271245" cy="17844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68756F"/>
                </a:solidFill>
                <a:latin typeface="NanumSquare"/>
              </a:defRPr>
            </a:pPr>
            <a:r>
              <a:rPr dirty="0"/>
              <a:t>※ </a:t>
            </a:r>
            <a:r>
              <a:rPr lang="ko-KR" altLang="en-US" dirty="0"/>
              <a:t>학습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성능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03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도로 경사도·적재량·속도가 모델 예측의 상위 요인입니다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Feature Importance는 예측 기여의 상대적 비중이며 방향성과 인과를 설명하지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rcRect l="1047" r="1047"/>
          <a:stretch>
            <a:fillRect/>
          </a:stretch>
        </p:blipFill>
        <p:spPr>
          <a:xfrm>
            <a:off x="621792" y="1956816"/>
            <a:ext cx="694944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956816"/>
            <a:ext cx="6949440" cy="4069080"/>
          </a:xfrm>
          <a:prstGeom prst="rect">
            <a:avLst/>
          </a:prstGeom>
          <a:noFill/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63840" y="1965960"/>
            <a:ext cx="3685032" cy="192024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6448" y="2286000"/>
            <a:ext cx="1097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표현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3017520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FFFEF9"/>
                </a:solidFill>
                <a:latin typeface="NanumSquare"/>
              </a:defRPr>
            </a:pPr>
            <a:r>
              <a:t>“높은 평균 속도는 높은 소비량</a:t>
            </a:r>
            <a:br/>
            <a:r>
              <a:t>예측과 관련된 주요 조건 중 하나”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133087"/>
            <a:ext cx="3685032" cy="1417320"/>
          </a:xfrm>
          <a:prstGeom prst="roundRect">
            <a:avLst>
              <a:gd name="adj" fmla="val 8000"/>
            </a:avLst>
          </a:prstGeom>
          <a:solidFill>
            <a:srgbClr val="FFF7DF"/>
          </a:solidFill>
          <a:ln>
            <a:solidFill>
              <a:srgbClr val="E7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407408"/>
            <a:ext cx="640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D6A234"/>
                </a:solidFill>
                <a:latin typeface="NanumSquare"/>
              </a:defRPr>
            </a:pPr>
            <a: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754880"/>
            <a:ext cx="29718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15201D"/>
                </a:solidFill>
                <a:latin typeface="NanumSquare"/>
              </a:defRPr>
            </a:pPr>
            <a:r>
              <a:t>“속도 때문에 소비량이 증가”와 같은</a:t>
            </a:r>
            <a:br/>
            <a:r>
              <a:t>인과 표현은 사용하지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04 · WEB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모델 추론과 웹 요청 처리를 분리해 재사용성과 안정성을 확보했습니다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1737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0D7256"/>
                </a:solidFill>
                <a:latin typeface="NanumSquare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26664"/>
            <a:ext cx="1828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운행 조건 입력</a:t>
            </a:r>
            <a:br/>
            <a:r>
              <a:t>현재 / 대안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971800"/>
            <a:ext cx="41148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214884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99" y="2450592"/>
            <a:ext cx="1737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0D7256"/>
                </a:solidFill>
                <a:latin typeface="NanumSquare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026664"/>
            <a:ext cx="1828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Route · Schema</a:t>
            </a:r>
            <a:br/>
            <a:r>
              <a:t>범위 이탈 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2971800"/>
            <a:ext cx="41148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14884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450592"/>
            <a:ext cx="1737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0D7256"/>
                </a:solidFill>
                <a:latin typeface="NanumSquare"/>
              </a:defRPr>
            </a:pPr>
            <a: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26664"/>
            <a:ext cx="1828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15201D"/>
                </a:solidFill>
                <a:latin typeface="NanumSquare"/>
              </a:defRPr>
            </a:pPr>
            <a:r>
              <a:t>예측 · 총에너지</a:t>
            </a:r>
            <a:br/>
            <a:r>
              <a:t>절감률 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5" y="2971800"/>
            <a:ext cx="41148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0D7256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148840"/>
            <a:ext cx="2331720" cy="2103120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2450592"/>
            <a:ext cx="17373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B6D86F"/>
                </a:solidFill>
                <a:latin typeface="NanumSquare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26664"/>
            <a:ext cx="1828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FFFEF9"/>
                </a:solidFill>
                <a:latin typeface="NanumSquare"/>
              </a:defRPr>
            </a:pPr>
            <a:r>
              <a:t>joblib 1회 로드</a:t>
            </a:r>
            <a:br/>
            <a:r>
              <a:t>XGBoost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3401568" cy="749808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4965192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10328"/>
            <a:ext cx="258775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15201D"/>
                </a:solidFill>
                <a:latin typeface="NanumSquare"/>
              </a:defRPr>
            </a:pPr>
            <a:r>
              <a:t>저장된 feature_columns 순서 유지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4736592"/>
            <a:ext cx="3401568" cy="749808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4568" y="4965192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4910328"/>
            <a:ext cx="258775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15201D"/>
                </a:solidFill>
                <a:latin typeface="NanumSquare"/>
              </a:defRPr>
            </a:pPr>
            <a:r>
              <a:t>pathlib + 기존 MODEL_DIR 재사용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4736592"/>
            <a:ext cx="3401568" cy="749808"/>
          </a:xfrm>
          <a:prstGeom prst="roundRect">
            <a:avLst>
              <a:gd name="adj" fmla="val 8000"/>
            </a:avLst>
          </a:prstGeom>
          <a:solidFill>
            <a:srgbClr val="EDF2E7"/>
          </a:solidFill>
          <a:ln>
            <a:solidFill>
              <a:srgbClr val="ED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4965192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910328"/>
            <a:ext cx="258775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15201D"/>
                </a:solidFill>
                <a:latin typeface="NanumSquare"/>
              </a:defRPr>
            </a:pPr>
            <a:r>
              <a:t>요청마다 모델 재학습·재로드 금지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04 · SERVICE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9개 운행 조건으로 예상 소비량과 총소비 에너지를 즉시 확인합니다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pic>
        <p:nvPicPr>
          <p:cNvPr id="7" name="Picture 6" descr="web_prediction.png"/>
          <p:cNvPicPr>
            <a:picLocks noChangeAspect="1"/>
          </p:cNvPicPr>
          <p:nvPr/>
        </p:nvPicPr>
        <p:blipFill>
          <a:blip r:embed="rId2"/>
          <a:srcRect t="6950" b="6950"/>
          <a:stretch>
            <a:fillRect/>
          </a:stretch>
        </p:blipFill>
        <p:spPr>
          <a:xfrm>
            <a:off x="621792" y="1938528"/>
            <a:ext cx="78181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938528"/>
            <a:ext cx="7818120" cy="4160520"/>
          </a:xfrm>
          <a:prstGeom prst="rect">
            <a:avLst/>
          </a:prstGeom>
          <a:noFill/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23376" y="1947672"/>
            <a:ext cx="2834640" cy="4151376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2286000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입력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724912"/>
            <a:ext cx="2011680" cy="9144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400" b="1">
                <a:solidFill>
                  <a:srgbClr val="FFFEF9"/>
                </a:solidFill>
                <a:latin typeface="NanumSquare"/>
              </a:defRPr>
            </a:pPr>
            <a:r>
              <a:t>속도 70 km/h</a:t>
            </a:r>
            <a:br/>
            <a:r>
              <a:t>적재량 180 kg</a:t>
            </a:r>
            <a:br/>
            <a:r>
              <a:t>주행 거리 50 km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15984" y="3886200"/>
            <a:ext cx="2176272" cy="0"/>
          </a:xfrm>
          <a:prstGeom prst="line">
            <a:avLst/>
          </a:prstGeom>
          <a:ln w="15240">
            <a:solidFill>
              <a:srgbClr val="557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15984" y="4178808"/>
            <a:ext cx="13716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B8CCC5"/>
                </a:solidFill>
                <a:latin typeface="NanumSquare"/>
              </a:defRPr>
            </a:pPr>
            <a:r>
              <a:t>예상 소비량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553712"/>
            <a:ext cx="164592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700" b="1">
                <a:solidFill>
                  <a:srgbClr val="B6D86F"/>
                </a:solidFill>
                <a:latin typeface="NanumSquare"/>
              </a:defRPr>
            </a:pPr>
            <a:r>
              <a:t>20.34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5010912"/>
            <a:ext cx="13716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0">
                <a:solidFill>
                  <a:srgbClr val="C8D8D3"/>
                </a:solidFill>
                <a:latin typeface="NanumSquare"/>
              </a:defRPr>
            </a:pPr>
            <a:r>
              <a:t>kWh/100km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5468112"/>
            <a:ext cx="16459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FFFEF9"/>
                </a:solidFill>
                <a:latin typeface="NanumSquare"/>
              </a:defRPr>
            </a:pPr>
            <a:r>
              <a:t>총 10.17 kWh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04 · SERVICE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현재·대안 계획을 비교하고 외삽 입력에는 불확실성 경고를 제공합니다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범위 밖 입력도 시뮬레이션하되 결과 해석 위험을 사용자에게 명시합니다.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pic>
        <p:nvPicPr>
          <p:cNvPr id="8" name="Picture 7" descr="web_simulation_warning.png"/>
          <p:cNvPicPr>
            <a:picLocks noChangeAspect="1"/>
          </p:cNvPicPr>
          <p:nvPr/>
        </p:nvPicPr>
        <p:blipFill>
          <a:blip r:embed="rId2"/>
          <a:srcRect t="20172" b="20172"/>
          <a:stretch>
            <a:fillRect/>
          </a:stretch>
        </p:blipFill>
        <p:spPr>
          <a:xfrm>
            <a:off x="621792" y="1938528"/>
            <a:ext cx="681228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938528"/>
            <a:ext cx="6812280" cy="4206240"/>
          </a:xfrm>
          <a:prstGeom prst="rect">
            <a:avLst/>
          </a:prstGeom>
          <a:noFill/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44968" y="1947672"/>
            <a:ext cx="3803904" cy="1143000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2221992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조건별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596896"/>
            <a:ext cx="29260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소비량 · 총에너지 · 차이 · 예상 절감률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4968" y="3355848"/>
            <a:ext cx="3803904" cy="1417320"/>
          </a:xfrm>
          <a:prstGeom prst="roundRect">
            <a:avLst>
              <a:gd name="adj" fmla="val 8000"/>
            </a:avLst>
          </a:prstGeom>
          <a:solidFill>
            <a:srgbClr val="FFF7DF"/>
          </a:solidFill>
          <a:ln>
            <a:solidFill>
              <a:srgbClr val="E7C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3630168"/>
            <a:ext cx="1097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D6A234"/>
                </a:solidFill>
                <a:latin typeface="NanumSquare"/>
              </a:defRPr>
            </a:pPr>
            <a:r>
              <a:t>경고 정책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4023360"/>
            <a:ext cx="310896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15201D"/>
                </a:solidFill>
                <a:latin typeface="NanumSquare"/>
              </a:defRPr>
            </a:pPr>
            <a:r>
              <a:t>관측 범위 밖 항목과 범위를 구체적으로 표시</a:t>
            </a:r>
            <a:br/>
            <a:r>
              <a:t>→ 모델 외삽 결과임을 인지한 상태에서 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4968" y="5038344"/>
            <a:ext cx="3803904" cy="1078992"/>
          </a:xfrm>
          <a:prstGeom prst="roundRect">
            <a:avLst>
              <a:gd name="adj" fmla="val 8000"/>
            </a:avLst>
          </a:prstGeom>
          <a:solidFill>
            <a:srgbClr val="103F34"/>
          </a:solidFill>
          <a:ln>
            <a:solidFill>
              <a:srgbClr val="103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5394960"/>
            <a:ext cx="3063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FFFEF9"/>
                </a:solidFill>
                <a:latin typeface="NanumSquare"/>
              </a:defRPr>
            </a:pPr>
            <a:r>
              <a:t>절감률은 대안 소비량이 더 낮을 때만 계산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05 · RISK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0D7256"/>
                </a:solidFill>
                <a:latin typeface="NanumSquare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500" b="1">
                <a:solidFill>
                  <a:srgbClr val="15201D"/>
                </a:solidFill>
                <a:latin typeface="NanumSquare"/>
              </a:defRPr>
            </a:pPr>
            <a:r>
              <a:t>높은 모델 성능과 실제 운영 효과는 동일하지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070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0">
                <a:solidFill>
                  <a:srgbClr val="68756F"/>
                </a:solidFill>
                <a:latin typeface="NanumSquare"/>
              </a:defRPr>
            </a:pPr>
            <a:r>
              <a:t>실습용 데이터와 모델 기반 예측이라는 경계를 분명히 관리해야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755648"/>
            <a:ext cx="11000232" cy="0"/>
          </a:xfrm>
          <a:prstGeom prst="line">
            <a:avLst/>
          </a:prstGeom>
          <a:ln w="12700">
            <a:solidFill>
              <a:srgbClr val="D9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19089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39112"/>
            <a:ext cx="19659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리스크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39112"/>
            <a:ext cx="52578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현재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039112"/>
            <a:ext cx="3383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0D7256"/>
                </a:solidFill>
                <a:latin typeface="NanumSquare"/>
              </a:defRPr>
            </a:pPr>
            <a:r>
              <a:t>대응 방향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679192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데이터 대표성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642616"/>
            <a:ext cx="5029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교육용 8,000건이 실제 차종·노화·기상 조건을 모두 대표하지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670048"/>
            <a:ext cx="2971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실차·차종별 데이터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1927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511296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외삽 불확실성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474720"/>
            <a:ext cx="5029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학습 관측 범위 밖에서는 모델의 오차 수준을 보장할 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502152"/>
            <a:ext cx="2971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경고 + 운영 적용 범위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51376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343400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비인과적 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306824"/>
            <a:ext cx="5029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Feature Importance만으로 변수 변화의 원인·효과를 단정할 수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34256"/>
            <a:ext cx="2971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SHAP·실험 설계 추가 검토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FFFEF9"/>
          </a:solidFill>
          <a:ln>
            <a:solidFill>
              <a:srgbClr val="D9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175504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5201D"/>
                </a:solidFill>
                <a:latin typeface="NanumSquare"/>
              </a:defRPr>
            </a:pPr>
            <a:r>
              <a:t>운영 검증 부재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5138928"/>
            <a:ext cx="5029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예상 절감률은 시뮬레이션이며 실제 절감 성과가 아님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166360"/>
            <a:ext cx="29718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0D7256"/>
                </a:solidFill>
                <a:latin typeface="NanumSquare"/>
              </a:defRPr>
            </a:pPr>
            <a:r>
              <a:t>파일럿 A/B 검증 및 모니터링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989320"/>
            <a:ext cx="82296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0">
                <a:solidFill>
                  <a:srgbClr val="68756F"/>
                </a:solidFill>
                <a:latin typeface="NanumSquare"/>
              </a:defRPr>
            </a:pPr>
            <a:r>
              <a:t>운영 메시지  ·  예상 소비량 / 모델 기반 예측 / 조건별 시뮬레이션 / 예상 절감률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900" b="1">
                <a:solidFill>
                  <a:srgbClr val="B6D86F"/>
                </a:solidFill>
                <a:latin typeface="NanumSquare"/>
              </a:defRPr>
            </a:pPr>
            <a:r>
              <a:t>05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defRPr sz="900" b="1">
                <a:solidFill>
                  <a:srgbClr val="B6D86F"/>
                </a:solidFill>
                <a:latin typeface="NanumSquare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858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2700" b="1">
                <a:solidFill>
                  <a:srgbClr val="FFFEF9"/>
                </a:solidFill>
                <a:latin typeface="NanumSquare"/>
              </a:defRPr>
            </a:pPr>
            <a:r>
              <a:t>다음 단계는 실차 데이터로 ‘예측 가능성’을 ‘업무 효과’로 검증하는 것입니다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700" b="1">
                <a:solidFill>
                  <a:srgbClr val="86A69B"/>
                </a:solidFill>
                <a:latin typeface="NanumSquare"/>
              </a:defRPr>
            </a:pPr>
            <a:r>
              <a:t>EV ENERGY CONSUMPTION · ML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337560" cy="2130552"/>
          </a:xfrm>
          <a:prstGeom prst="roundRect">
            <a:avLst>
              <a:gd name="adj" fmla="val 8000"/>
            </a:avLst>
          </a:prstGeom>
          <a:solidFill>
            <a:srgbClr val="174E41"/>
          </a:solidFill>
          <a:ln>
            <a:solidFill>
              <a:srgbClr val="2B6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914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700" b="1">
                <a:solidFill>
                  <a:srgbClr val="FFFEF9"/>
                </a:solidFill>
                <a:latin typeface="NanumSquare"/>
              </a:defRPr>
            </a:pPr>
            <a:r>
              <a:t>실습 모델·웹서비스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55848"/>
            <a:ext cx="256032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C4D5CF"/>
                </a:solidFill>
                <a:latin typeface="NanumSquare"/>
              </a:defRPr>
            </a:pPr>
            <a:r>
              <a:t>저장 모델 추론</a:t>
            </a:r>
            <a:br/>
            <a:r>
              <a:t>조건 비교·경고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44368"/>
            <a:ext cx="3657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B6D86F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057400"/>
            <a:ext cx="3337560" cy="2130552"/>
          </a:xfrm>
          <a:prstGeom prst="roundRect">
            <a:avLst>
              <a:gd name="adj" fmla="val 8000"/>
            </a:avLst>
          </a:prstGeom>
          <a:solidFill>
            <a:srgbClr val="174E41"/>
          </a:solidFill>
          <a:ln>
            <a:solidFill>
              <a:srgbClr val="2B6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359152"/>
            <a:ext cx="914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16352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700" b="1">
                <a:solidFill>
                  <a:srgbClr val="FFFEF9"/>
                </a:solidFill>
                <a:latin typeface="NanumSquare"/>
              </a:defRPr>
            </a:pPr>
            <a:r>
              <a:t>파일럿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355848"/>
            <a:ext cx="256032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C4D5CF"/>
                </a:solidFill>
                <a:latin typeface="NanumSquare"/>
              </a:defRPr>
            </a:pPr>
            <a:r>
              <a:t>실차 오차 측정</a:t>
            </a:r>
            <a:br/>
            <a:r>
              <a:t>사용자 피드백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2944368"/>
            <a:ext cx="3657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defRPr sz="1700" b="1">
                <a:solidFill>
                  <a:srgbClr val="B6D86F"/>
                </a:solidFill>
                <a:latin typeface="NanumSquare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057400"/>
            <a:ext cx="3337560" cy="2130552"/>
          </a:xfrm>
          <a:prstGeom prst="roundRect">
            <a:avLst>
              <a:gd name="adj" fmla="val 8000"/>
            </a:avLst>
          </a:prstGeom>
          <a:solidFill>
            <a:srgbClr val="174E41"/>
          </a:solidFill>
          <a:ln>
            <a:solidFill>
              <a:srgbClr val="2B6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2359152"/>
            <a:ext cx="914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000" b="1">
                <a:solidFill>
                  <a:srgbClr val="B6D86F"/>
                </a:solidFill>
                <a:latin typeface="NanumSquare"/>
              </a:defRPr>
            </a:pPr>
            <a: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816352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700" b="1">
                <a:solidFill>
                  <a:srgbClr val="FFFEF9"/>
                </a:solidFill>
                <a:latin typeface="NanumSquare"/>
              </a:defRPr>
            </a:pPr>
            <a:r>
              <a:t>운영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355848"/>
            <a:ext cx="256032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200" b="0">
                <a:solidFill>
                  <a:srgbClr val="C4D5CF"/>
                </a:solidFill>
                <a:latin typeface="NanumSquare"/>
              </a:defRPr>
            </a:pPr>
            <a:r>
              <a:t>차종·배터리 상태</a:t>
            </a:r>
            <a:br/>
            <a:r>
              <a:t>충전·관제 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7091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B6D86F"/>
          </a:solidFill>
          <a:ln>
            <a:solidFill>
              <a:srgbClr val="B6D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001768"/>
            <a:ext cx="7315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100" b="1">
                <a:solidFill>
                  <a:srgbClr val="103F34"/>
                </a:solidFill>
                <a:latin typeface="NanumSquare"/>
              </a:defRPr>
            </a:pPr>
            <a:r>
              <a:t>제언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937760"/>
            <a:ext cx="923544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3F34"/>
                </a:solidFill>
                <a:latin typeface="NanumSquare"/>
              </a:defRPr>
            </a:pPr>
            <a:r>
              <a:t>의사결정 지원 도구로 제한된 파일럿을 운영하고, 실제 오차와 절감 효과를 함께 측정하십시오.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Office PowerPoint</Application>
  <PresentationFormat>와이드스크린</PresentationFormat>
  <Paragraphs>223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NanumSquare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전기차 에너지 소비량 예측 웹서비스 프로젝트 보고서</dc:title>
  <dc:subject>머신러닝 분석 및 FastAPI 웹서비스 구현</dc:subject>
  <dc:creator>energy_consumption project</dc:creator>
  <cp:keywords/>
  <dc:description>교육 및 실습 목적의 모델 기반 예측 보고서</dc:description>
  <cp:lastModifiedBy>Admin</cp:lastModifiedBy>
  <cp:revision>3</cp:revision>
  <dcterms:created xsi:type="dcterms:W3CDTF">2013-01-27T09:14:16Z</dcterms:created>
  <dcterms:modified xsi:type="dcterms:W3CDTF">2026-08-28T07:21:51Z</dcterms:modified>
  <cp:category/>
</cp:coreProperties>
</file>